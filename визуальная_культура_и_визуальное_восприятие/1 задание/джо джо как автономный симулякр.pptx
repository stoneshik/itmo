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3" r:id="rId6"/>
    <p:sldId id="264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95A212-8E7C-E2E6-6698-6E09ECAEF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15F79B-5CBC-6092-402A-D2DE60E39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E7E997-5ABA-8101-C8A8-1A1E22B3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66D0-FB57-4E33-87CB-65BE7E6AE40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E502A3-D0F9-F9B0-883C-202C7FF7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2F8093-5546-7A11-CAB7-2F016DEB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5044-772E-43D3-B6A2-E470FAACAD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76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FE2314-D94B-7659-2FA5-420493D10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CAE4A8-293D-444B-35FD-4988CAC82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3DC4BD-720B-B8E0-4644-77290C7C3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66D0-FB57-4E33-87CB-65BE7E6AE40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B37ADA-54BE-7B3C-D969-49E174E0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014AAB-6F88-4CD6-CA3B-97352C95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5044-772E-43D3-B6A2-E470FAACAD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97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907F1-712E-18D4-CF22-B309BF8B1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7E456-BC19-302D-6A28-736D47CE9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9D37F1-C464-1738-977E-CDE5E254A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66D0-FB57-4E33-87CB-65BE7E6AE40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C79A96-77C2-F8B7-A1CF-60C8DE3DF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11CF23-1F73-B65B-B54D-443142AB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5044-772E-43D3-B6A2-E470FAACAD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1999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B605A4-E67E-FE71-0B98-9C6354A57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1BA20B-9C9C-20E8-DC7A-25643A1F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D21B0A-0A30-EA9D-88DE-22ED32249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04B900-4D8D-E7A3-34D2-D3753AAED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66D0-FB57-4E33-87CB-65BE7E6AE40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93ADB7-18FF-4667-0827-B54E62B9A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53D90A-199F-82D0-A879-6476EF91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5044-772E-43D3-B6A2-E470FAACAD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24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5F8B59-0C4A-F52E-AB11-B3C9980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286F6C-9940-AF75-0595-D0DD8D2FE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48581D-4635-58E3-FDD8-B6035DB2E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651AAEF-010A-CD8F-CE22-70853D53B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B97455-E200-6A5E-F1FE-F2AF9888B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E687CF-795F-8B3A-2056-49F910604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66D0-FB57-4E33-87CB-65BE7E6AE40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B24FAD1-F30F-37B2-BF9A-A1C4B457B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54C2A2F-B49B-F0BD-1CA6-E72FBF910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5044-772E-43D3-B6A2-E470FAACAD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06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63FCB5-6D5F-4B5B-3B37-8A1913409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DC59CB5-6F3E-FFFE-98F7-31AD194EA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66D0-FB57-4E33-87CB-65BE7E6AE40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1810D3F-F450-FE24-2C67-83548A25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FE4D2B2-FC65-B0D6-2B2E-12676ABD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5044-772E-43D3-B6A2-E470FAACAD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14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E9166D0-F231-B468-5483-DFD42912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66D0-FB57-4E33-87CB-65BE7E6AE40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289AA99-3B10-A3B3-6C3F-95DD2338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5267E1-6063-404A-2755-4AE51BE8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5044-772E-43D3-B6A2-E470FAACAD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628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C6F93-84DA-2825-7063-2798D4067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C8D404-6F16-4C5D-E9BD-88C9490D8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BCF270-7F56-3B67-849F-3A23BBC14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E0B60C-AF8A-F3AE-87AE-3432F06A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66D0-FB57-4E33-87CB-65BE7E6AE40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3599E6-157E-14B7-3569-0349967ED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187512-2A59-651A-AF14-73E665CD5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5044-772E-43D3-B6A2-E470FAACAD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83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B9CCFE-8DA9-1D11-20E3-A98EA31EF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8AACAA-6D0A-B2EE-9CA0-CF48157B13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75E0E0-294E-0D16-070B-CB52E5E91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C51437-74AC-62F8-8819-A7FD6219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66D0-FB57-4E33-87CB-65BE7E6AE40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61C4C3-4750-A46B-E0B9-F9D6FB643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6C1D22-7923-15F3-5A30-D5DEE3F5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5044-772E-43D3-B6A2-E470FAACAD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056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9AA4B-986A-CF2B-4DB1-6E60F082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C5C2F14-2166-83A5-ACDA-2D4366E25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3DCF3E-5FBA-EFFF-43FC-05C972C3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66D0-FB57-4E33-87CB-65BE7E6AE40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C85351-AB45-CA26-25A4-74559FD8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3F6FBF-CDC5-82DD-F2CE-6AC6D13A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5044-772E-43D3-B6A2-E470FAACAD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761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962C954-4A5B-1ECA-270A-9AA2CD0D04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E4240EC-F6C9-27C1-2DF9-2EB4E1311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7F8F74-8EAF-B081-0C42-93DE29C6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66D0-FB57-4E33-87CB-65BE7E6AE40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BEFF3F-2AA9-2634-A1FB-AEA76787E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47FF0A-9259-B87B-33ED-542F6E40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5044-772E-43D3-B6A2-E470FAACAD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76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7BAF08-255C-3D76-7E6A-CE18BDF6E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86085C-F166-63F6-B483-A20FC1DDE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FC63A6-C9A5-5E93-B294-8027B2F113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966D0-FB57-4E33-87CB-65BE7E6AE40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DB04F5-CF5E-15B2-ED16-C83B59B17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463698-E8A2-E2CB-F455-2D1D9AAB2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F5044-772E-43D3-B6A2-E470FAACAD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52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1C092-E101-40C0-6196-7E47A070E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6300"/>
              <a:t>JoJo’s Bizarre Adventure </a:t>
            </a:r>
            <a:r>
              <a:rPr lang="ru-RU" sz="6300"/>
              <a:t>как автономный симулякр в визуальной культуре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D9390B-F6FA-4CEA-1BF6-B55273C59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ru-RU"/>
              <a:t>Стрельбицкий Илья </a:t>
            </a:r>
            <a:r>
              <a:rPr lang="en-US"/>
              <a:t>P3413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638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C6AD3-CEC0-9D54-C62E-25C85BFF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 fontScale="90000"/>
          </a:bodyPr>
          <a:lstStyle/>
          <a:p>
            <a:r>
              <a:rPr lang="ru-RU" sz="7200" dirty="0"/>
              <a:t>Что такое автономный симулякр?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7600C5-5034-E794-0110-1D5BF5DCD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ru-RU" b="1" dirty="0"/>
              <a:t>Жан Бодрийяр (1929-2007)</a:t>
            </a:r>
            <a:endParaRPr lang="ru-RU" dirty="0"/>
          </a:p>
          <a:p>
            <a:r>
              <a:rPr lang="ru-RU" b="1" dirty="0"/>
              <a:t>Симулякр</a:t>
            </a:r>
            <a:r>
              <a:rPr lang="ru-RU" dirty="0"/>
              <a:t> — знак или копия, утратившая связь с реальностью, оригиналом.</a:t>
            </a:r>
          </a:p>
          <a:p>
            <a:r>
              <a:rPr lang="ru-RU" b="1" dirty="0"/>
              <a:t>Автономный симулякр</a:t>
            </a:r>
            <a:r>
              <a:rPr lang="ru-RU" dirty="0"/>
              <a:t> — самодостаточная система знаков, создающая собственную </a:t>
            </a:r>
            <a:r>
              <a:rPr lang="ru-RU" b="1" dirty="0" err="1"/>
              <a:t>гиперреальность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07195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B39923-B962-44A4-912B-AF8B08468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4BC84C0-F067-E2EA-30A6-5997B479D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4BB53D45-CAC2-0D47-903B-465F4B0A3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55B0D2-7601-C6FE-8D68-D3A278812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DFD688-423D-2D33-BDD8-A1B023DB6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ru-RU" sz="4800" dirty="0"/>
              <a:t>От образа к </a:t>
            </a:r>
            <a:r>
              <a:rPr lang="ru-RU" sz="4800" dirty="0" err="1"/>
              <a:t>гиперреальности</a:t>
            </a:r>
            <a:r>
              <a:rPr lang="ru-RU" sz="4800" dirty="0"/>
              <a:t>: 4 стадии (по Бодрийяру)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C8EC08-7BF5-8008-61F2-0DC079C81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 fontScale="92500"/>
          </a:bodyPr>
          <a:lstStyle/>
          <a:p>
            <a:r>
              <a:rPr lang="ru-RU" b="1" dirty="0"/>
              <a:t>Отражение</a:t>
            </a:r>
            <a:r>
              <a:rPr lang="ru-RU" dirty="0"/>
              <a:t> реальности (фотография).</a:t>
            </a:r>
          </a:p>
          <a:p>
            <a:r>
              <a:rPr lang="ru-RU" b="1" dirty="0"/>
              <a:t>Искажение</a:t>
            </a:r>
            <a:r>
              <a:rPr lang="ru-RU" dirty="0"/>
              <a:t> реальности (картина, пропаганда).</a:t>
            </a:r>
          </a:p>
          <a:p>
            <a:r>
              <a:rPr lang="ru-RU" b="1" dirty="0"/>
              <a:t>Маскировка отсутствия</a:t>
            </a:r>
            <a:r>
              <a:rPr lang="ru-RU" dirty="0"/>
              <a:t> реальности (Диснейленд как симулякр «идеального детства»).</a:t>
            </a:r>
          </a:p>
          <a:p>
            <a:r>
              <a:rPr lang="ru-RU" b="1" dirty="0"/>
              <a:t>Чистая симуляция</a:t>
            </a:r>
            <a:r>
              <a:rPr lang="ru-RU" dirty="0"/>
              <a:t> - </a:t>
            </a:r>
            <a:r>
              <a:rPr lang="ru-RU" b="1" dirty="0"/>
              <a:t>Автономный симулякр</a:t>
            </a:r>
            <a:r>
              <a:rPr lang="ru-RU" dirty="0"/>
              <a:t>. Образ, живущий сам по себе (наши примеры).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32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977D6E-5E80-C356-9C35-429CD70E9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ull view">
            <a:extLst>
              <a:ext uri="{FF2B5EF4-FFF2-40B4-BE49-F238E27FC236}">
                <a16:creationId xmlns:a16="http://schemas.microsoft.com/office/drawing/2014/main" id="{C81C1248-7E0E-D6E6-3F1D-31A633EC8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33" r="-3" b="1539"/>
          <a:stretch>
            <a:fillRect/>
          </a:stretch>
        </p:blipFill>
        <p:spPr bwMode="auto">
          <a:xfrm>
            <a:off x="621675" y="623275"/>
            <a:ext cx="4032621" cy="5607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Right Triangle 104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66718-7AC6-C0D0-B5C0-0EB55C64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659" y="1188637"/>
            <a:ext cx="5642312" cy="1597228"/>
          </a:xfrm>
        </p:spPr>
        <p:txBody>
          <a:bodyPr>
            <a:normAutofit/>
          </a:bodyPr>
          <a:lstStyle/>
          <a:p>
            <a:r>
              <a:rPr lang="ru-RU" sz="4200"/>
              <a:t>Объект анализа: </a:t>
            </a:r>
            <a:r>
              <a:rPr lang="en-US" sz="4200"/>
              <a:t>JoJo's Bizarre Adventure</a:t>
            </a:r>
            <a:endParaRPr lang="ru-RU" sz="42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FBBACD-833D-F3B8-056B-7648818F1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659" y="2998278"/>
            <a:ext cx="4784329" cy="1974316"/>
          </a:xfrm>
        </p:spPr>
        <p:txBody>
          <a:bodyPr anchor="t">
            <a:normAutofit/>
          </a:bodyPr>
          <a:lstStyle/>
          <a:p>
            <a:r>
              <a:rPr lang="ru-RU" sz="2000" dirty="0"/>
              <a:t>Манга/аниме </a:t>
            </a:r>
            <a:r>
              <a:rPr lang="ru-RU" sz="2000" dirty="0" err="1"/>
              <a:t>Хирохико</a:t>
            </a:r>
            <a:r>
              <a:rPr lang="ru-RU" sz="2000" dirty="0"/>
              <a:t> Араки (с 1987 г.)</a:t>
            </a:r>
          </a:p>
          <a:p>
            <a:r>
              <a:rPr lang="ru-RU" sz="2000" b="1" dirty="0"/>
              <a:t>Важно:</a:t>
            </a:r>
            <a:r>
              <a:rPr lang="ru-RU" sz="2000" dirty="0"/>
              <a:t> Мы анализируем не сюжет, а порождённый им </a:t>
            </a:r>
            <a:r>
              <a:rPr lang="ru-RU" sz="2000" b="1" dirty="0"/>
              <a:t>культурный код и визуальный язык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5289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C7560-7B20-4CCD-0E03-F1C958D0F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9" name="Rectangle 1048">
            <a:extLst>
              <a:ext uri="{FF2B5EF4-FFF2-40B4-BE49-F238E27FC236}">
                <a16:creationId xmlns:a16="http://schemas.microsoft.com/office/drawing/2014/main" id="{F5897CCA-486C-491C-B4C1-5E5C95A82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C0D1AC-3BC4-E4B6-B434-5F156C5C0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206" y="192083"/>
            <a:ext cx="6356606" cy="1165501"/>
          </a:xfrm>
        </p:spPr>
        <p:txBody>
          <a:bodyPr>
            <a:normAutofit/>
          </a:bodyPr>
          <a:lstStyle/>
          <a:p>
            <a:r>
              <a:rPr lang="ru-RU" sz="3600"/>
              <a:t>Аргумент 1. Создание гиперреальности «Стиля JoJo»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FDE294-87A7-00F1-A5A2-7917E55EE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6" y="1361119"/>
            <a:ext cx="5908366" cy="3728615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ru-RU" sz="2000" b="1" i="0" dirty="0">
                <a:effectLst/>
                <a:latin typeface="quote-cjk-patch"/>
              </a:rPr>
              <a:t>Визуальный код как система:</a:t>
            </a:r>
            <a:endParaRPr lang="ru-RU" sz="2000" dirty="0">
              <a:latin typeface="quote-cjk-patch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ru-RU" sz="2000" b="1" i="0" dirty="0">
                <a:effectLst/>
                <a:latin typeface="quote-cjk-patch"/>
              </a:rPr>
              <a:t>«Позы </a:t>
            </a:r>
            <a:r>
              <a:rPr lang="ru-RU" sz="2000" b="1" i="0" dirty="0" err="1">
                <a:effectLst/>
                <a:latin typeface="quote-cjk-patch"/>
              </a:rPr>
              <a:t>JoJo</a:t>
            </a:r>
            <a:r>
              <a:rPr lang="ru-RU" sz="2000" b="1" i="0" dirty="0">
                <a:effectLst/>
                <a:latin typeface="quote-cjk-patch"/>
              </a:rPr>
              <a:t>»</a:t>
            </a:r>
            <a:r>
              <a:rPr lang="ru-RU" sz="2000" b="0" i="0" dirty="0">
                <a:effectLst/>
                <a:latin typeface="quote-cjk-patch"/>
              </a:rPr>
              <a:t> — автономный язык тела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ru-RU" sz="2000" b="1" i="0" dirty="0">
                <a:effectLst/>
                <a:latin typeface="quote-cjk-patch"/>
              </a:rPr>
              <a:t>«Эстетика Стендов»</a:t>
            </a:r>
            <a:r>
              <a:rPr lang="ru-RU" sz="2000" b="0" i="0" dirty="0">
                <a:effectLst/>
                <a:latin typeface="quote-cjk-patch"/>
              </a:rPr>
              <a:t> — визуализация души как товар</a:t>
            </a:r>
          </a:p>
        </p:txBody>
      </p:sp>
      <p:pic>
        <p:nvPicPr>
          <p:cNvPr id="5" name="Picture 4" descr="r/StardustCrusaders - Мой косплей Джотаро, такой же рост и вес, как у него, всё, кроме деталей шляпы, сделано и сшито мной. ig:cembagatir">
            <a:extLst>
              <a:ext uri="{FF2B5EF4-FFF2-40B4-BE49-F238E27FC236}">
                <a16:creationId xmlns:a16="http://schemas.microsoft.com/office/drawing/2014/main" id="{261FE321-B0AC-A139-4E6E-7BAA3783F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70987" y="2921161"/>
            <a:ext cx="3067159" cy="306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Изображение выглядит как аниме, мультфильм, фантастика, Аним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6B259DC-18D4-C915-BA52-B46909975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8146" y="2921161"/>
            <a:ext cx="4549054" cy="2557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/ShitPostCrusaders - ДжоДжо позы в частях 1-3 против частей 4-5 (я только аниме смотрю)">
            <a:extLst>
              <a:ext uri="{FF2B5EF4-FFF2-40B4-BE49-F238E27FC236}">
                <a16:creationId xmlns:a16="http://schemas.microsoft.com/office/drawing/2014/main" id="{25C42EB6-943D-EE6E-F7C9-EC5A9FC4F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49" y="2921161"/>
            <a:ext cx="1678008" cy="3744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Изображение выглядит как мультфильм, Вымышленный персонаж, Изображение компьютерной графики, Аним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EEC3707-333B-EA55-9145-B7DD2BBF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669" y="106326"/>
            <a:ext cx="4999705" cy="2814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 descr="Изображение выглядит как музей, Артефакт, Классическая скульптура, Резьба по камню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25D109-8F42-3EC0-1B7D-FC80F48A3C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907" y="2921161"/>
            <a:ext cx="254508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82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2BFFD-A5C3-E483-F4AD-74C36425D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9" name="Rectangle 1048">
            <a:extLst>
              <a:ext uri="{FF2B5EF4-FFF2-40B4-BE49-F238E27FC236}">
                <a16:creationId xmlns:a16="http://schemas.microsoft.com/office/drawing/2014/main" id="{38B45F48-0E4D-E25F-096A-5126EEF7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D35199-9DEE-69B4-D407-59C5D99A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204" y="129618"/>
            <a:ext cx="8268795" cy="1080441"/>
          </a:xfrm>
        </p:spPr>
        <p:txBody>
          <a:bodyPr>
            <a:normAutofit/>
          </a:bodyPr>
          <a:lstStyle/>
          <a:p>
            <a:r>
              <a:rPr lang="ru-RU" sz="3200" dirty="0"/>
              <a:t>Аргумент 2. Самовоспроизводство через мемы и интертекстуальность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476D83-A41E-4160-04AA-D982EC139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6" y="1183865"/>
            <a:ext cx="6358432" cy="37286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Самовоспроизводство знаков:</a:t>
            </a:r>
            <a:endParaRPr lang="ru-RU" sz="2000" dirty="0"/>
          </a:p>
          <a:p>
            <a:r>
              <a:rPr lang="ru-RU" sz="2000" b="1" dirty="0"/>
              <a:t>Музыкальные отсылки:</a:t>
            </a:r>
            <a:r>
              <a:rPr lang="ru-RU" sz="2000" dirty="0"/>
              <a:t> «</a:t>
            </a:r>
            <a:r>
              <a:rPr lang="en-US" sz="2000" dirty="0"/>
              <a:t>Killer Queen» (Queen) → </a:t>
            </a:r>
            <a:r>
              <a:rPr lang="ru-RU" sz="2000" dirty="0"/>
              <a:t>стенд</a:t>
            </a:r>
          </a:p>
          <a:p>
            <a:r>
              <a:rPr lang="ru-RU" sz="2000" b="1" dirty="0"/>
              <a:t>Меметика:</a:t>
            </a:r>
            <a:r>
              <a:rPr lang="ru-RU" sz="2000" dirty="0"/>
              <a:t> «</a:t>
            </a:r>
            <a:r>
              <a:rPr lang="en-US" sz="2000" dirty="0"/>
              <a:t>Yare </a:t>
            </a:r>
            <a:r>
              <a:rPr lang="en-US" sz="2000" dirty="0" err="1"/>
              <a:t>yare</a:t>
            </a:r>
            <a:r>
              <a:rPr lang="en-US" sz="2000" dirty="0"/>
              <a:t> daze», «ORA </a:t>
            </a:r>
            <a:r>
              <a:rPr lang="en-US" sz="2000" dirty="0" err="1"/>
              <a:t>ORA</a:t>
            </a:r>
            <a:r>
              <a:rPr lang="en-US" sz="2000" dirty="0"/>
              <a:t> </a:t>
            </a:r>
            <a:r>
              <a:rPr lang="en-US" sz="2000" dirty="0" err="1"/>
              <a:t>ORA</a:t>
            </a:r>
            <a:r>
              <a:rPr lang="en-US" sz="2000" dirty="0"/>
              <a:t>», </a:t>
            </a:r>
            <a:r>
              <a:rPr lang="ru-RU" sz="2000" dirty="0"/>
              <a:t>шаблоны (</a:t>
            </a:r>
            <a:r>
              <a:rPr lang="ru-RU" sz="2000" dirty="0" err="1"/>
              <a:t>Дио</a:t>
            </a:r>
            <a:r>
              <a:rPr lang="ru-RU" sz="2000" dirty="0"/>
              <a:t>, Джонатан)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71440CF3-7529-2073-920E-99D2F5046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52" y="3147238"/>
            <a:ext cx="3583458" cy="3583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 descr="To Be Continued Meme Png Image - Parallel, Transparent Png - kindpng">
            <a:extLst>
              <a:ext uri="{FF2B5EF4-FFF2-40B4-BE49-F238E27FC236}">
                <a16:creationId xmlns:a16="http://schemas.microsoft.com/office/drawing/2014/main" id="{74909716-3C3C-A141-F7CD-F2300FFF4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405" y="3225762"/>
            <a:ext cx="4304273" cy="111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Where Does The &quot;Is That A JoJo Reference?&quot; Meme Come From?">
            <a:extLst>
              <a:ext uri="{FF2B5EF4-FFF2-40B4-BE49-F238E27FC236}">
                <a16:creationId xmlns:a16="http://schemas.microsoft.com/office/drawing/2014/main" id="{B6E86ADF-E1B2-C52C-C115-5C275CF7A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483" y="2451288"/>
            <a:ext cx="3929349" cy="196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" name="Picture 20" descr="r/ShitPostCrusaders - When you realise the ability &quot;Time Stop&quot; has a verbal component, so you can shout &quot; ZA WARUDO&quot; to activate it. YES! YES YES! Yes! Yes! Yes! Yes! YES">
            <a:extLst>
              <a:ext uri="{FF2B5EF4-FFF2-40B4-BE49-F238E27FC236}">
                <a16:creationId xmlns:a16="http://schemas.microsoft.com/office/drawing/2014/main" id="{A2704F1A-502D-145C-C74D-3A7E8212D8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58" r="1376"/>
          <a:stretch>
            <a:fillRect/>
          </a:stretch>
        </p:blipFill>
        <p:spPr bwMode="auto">
          <a:xfrm>
            <a:off x="7798183" y="4415963"/>
            <a:ext cx="3950649" cy="222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 descr="Yare Yare Daze">
            <a:extLst>
              <a:ext uri="{FF2B5EF4-FFF2-40B4-BE49-F238E27FC236}">
                <a16:creationId xmlns:a16="http://schemas.microsoft.com/office/drawing/2014/main" id="{22BE2C33-DDB3-FCBF-BE75-E7F1C4F73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121178"/>
            <a:ext cx="2604832" cy="2362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0" name="Picture 24" descr="Jojo's Bizarre Adventure: Ora Ora Ora Compilation - YouTube">
            <a:extLst>
              <a:ext uri="{FF2B5EF4-FFF2-40B4-BE49-F238E27FC236}">
                <a16:creationId xmlns:a16="http://schemas.microsoft.com/office/drawing/2014/main" id="{F1D70FF8-62F9-1693-B648-7ACAA87400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87" r="1870" b="13397"/>
          <a:stretch>
            <a:fillRect/>
          </a:stretch>
        </p:blipFill>
        <p:spPr bwMode="auto">
          <a:xfrm>
            <a:off x="3580405" y="4405314"/>
            <a:ext cx="4217778" cy="231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587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4D6DB-D5EE-2D12-B4EA-4580176AD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BB15B82E-83FD-E92A-0A3F-2AECE919B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ight Triangle 1041">
            <a:extLst>
              <a:ext uri="{FF2B5EF4-FFF2-40B4-BE49-F238E27FC236}">
                <a16:creationId xmlns:a16="http://schemas.microsoft.com/office/drawing/2014/main" id="{66E554F8-983F-E733-29D5-F04B67273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1479B59-1409-3010-2068-BA88D2912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77C4EC-19AE-5A55-AAB6-598C20CEC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659" y="1188637"/>
            <a:ext cx="5642312" cy="1597228"/>
          </a:xfrm>
        </p:spPr>
        <p:txBody>
          <a:bodyPr>
            <a:noAutofit/>
          </a:bodyPr>
          <a:lstStyle/>
          <a:p>
            <a:r>
              <a:rPr lang="ru-RU" sz="3600" dirty="0"/>
              <a:t>Аргумент 3. Формирование социальных практик и экономики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73DCE-47D5-5CC9-A059-CBB9BDE1E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659" y="2998278"/>
            <a:ext cx="4784329" cy="1974316"/>
          </a:xfrm>
        </p:spPr>
        <p:txBody>
          <a:bodyPr anchor="t">
            <a:normAutofit/>
          </a:bodyPr>
          <a:lstStyle/>
          <a:p>
            <a:pPr marL="0" indent="0">
              <a:spcBef>
                <a:spcPts val="300"/>
              </a:spcBef>
              <a:spcAft>
                <a:spcPts val="6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Новые социальные реальности:</a:t>
            </a:r>
            <a:endParaRPr lang="ru-RU" sz="2000" dirty="0">
              <a:solidFill>
                <a:srgbClr val="0F1115"/>
              </a:solidFill>
              <a:latin typeface="quote-cjk-patch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Язык сообщества: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«стенд-юзер», «мусорный день», «путешествие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quote-cjk-patch"/>
              </a:rPr>
              <a:t>Джорно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»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Экономика </a:t>
            </a:r>
            <a:r>
              <a:rPr lang="ru-RU" sz="2000" b="1" i="0" dirty="0" err="1">
                <a:solidFill>
                  <a:srgbClr val="0F1115"/>
                </a:solidFill>
                <a:effectLst/>
                <a:latin typeface="quote-cjk-patch"/>
              </a:rPr>
              <a:t>гиперреальности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ценность = причастность к «миру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quote-cjk-patch"/>
              </a:rPr>
              <a:t>JoJo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»</a:t>
            </a:r>
          </a:p>
        </p:txBody>
      </p:sp>
      <p:pic>
        <p:nvPicPr>
          <p:cNvPr id="5122" name="Picture 2" descr="Набор фигурок Невероятные приключения ДжоДжо 5шт (10,5-13см, пакет) купить  на OZON по низкой цене (367627377)">
            <a:extLst>
              <a:ext uri="{FF2B5EF4-FFF2-40B4-BE49-F238E27FC236}">
                <a16:creationId xmlns:a16="http://schemas.microsoft.com/office/drawing/2014/main" id="{817223CE-A5D9-E215-954C-804E3B342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3" y="962233"/>
            <a:ext cx="4851223" cy="4929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922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960B8-1C7C-9A3E-1D0A-6399CAB6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4B72BC4-0335-4623-6A9B-C6109A4EE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679F420D-F933-22DA-BB4E-7B017B921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432EF6-23DF-5072-A57A-112A830C6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7A6F4-8DFA-B15D-D1BD-CF9D2F8FD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185" y="677925"/>
            <a:ext cx="10102230" cy="1118447"/>
          </a:xfrm>
        </p:spPr>
        <p:txBody>
          <a:bodyPr anchor="ctr">
            <a:normAutofit fontScale="90000"/>
          </a:bodyPr>
          <a:lstStyle/>
          <a:p>
            <a:r>
              <a:rPr lang="ru-RU" sz="4000" dirty="0"/>
              <a:t>Сводная таблица: Три пункта автономности </a:t>
            </a:r>
            <a:r>
              <a:rPr lang="ru-RU" sz="4000" dirty="0" err="1"/>
              <a:t>JoJo</a:t>
            </a:r>
            <a:endParaRPr lang="ru-RU" sz="4000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EB318C03-746F-CA94-D005-6AF68CDB3B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915525"/>
              </p:ext>
            </p:extLst>
          </p:nvPr>
        </p:nvGraphicFramePr>
        <p:xfrm>
          <a:off x="1043185" y="1732046"/>
          <a:ext cx="9047112" cy="3072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0108">
                  <a:extLst>
                    <a:ext uri="{9D8B030D-6E8A-4147-A177-3AD203B41FA5}">
                      <a16:colId xmlns:a16="http://schemas.microsoft.com/office/drawing/2014/main" val="4137624822"/>
                    </a:ext>
                  </a:extLst>
                </a:gridCol>
                <a:gridCol w="3147237">
                  <a:extLst>
                    <a:ext uri="{9D8B030D-6E8A-4147-A177-3AD203B41FA5}">
                      <a16:colId xmlns:a16="http://schemas.microsoft.com/office/drawing/2014/main" val="3034080186"/>
                    </a:ext>
                  </a:extLst>
                </a:gridCol>
                <a:gridCol w="3189767">
                  <a:extLst>
                    <a:ext uri="{9D8B030D-6E8A-4147-A177-3AD203B41FA5}">
                      <a16:colId xmlns:a16="http://schemas.microsoft.com/office/drawing/2014/main" val="378504408"/>
                    </a:ext>
                  </a:extLst>
                </a:gridCol>
              </a:tblGrid>
              <a:tr h="74986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effectLst/>
                          <a:latin typeface="quote-cjk-patch"/>
                        </a:rPr>
                        <a:t>Критерий симулякра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Проявление в 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JoJo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Итог</a:t>
                      </a:r>
                      <a:endParaRPr lang="ru-RU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5483474"/>
                  </a:ext>
                </a:extLst>
              </a:tr>
              <a:tr h="749861">
                <a:tc>
                  <a:txBody>
                    <a:bodyPr/>
                    <a:lstStyle/>
                    <a:p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Отрыв от оригинала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Позы → не к искусству, а к другим позам 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JoJo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Имена → не к музыке, а к персонажам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Создаётся </a:t>
                      </a:r>
                      <a:r>
                        <a:rPr lang="ru-RU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гиперреальность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763463"/>
                  </a:ext>
                </a:extLst>
              </a:tr>
              <a:tr h="749861">
                <a:tc>
                  <a:txBody>
                    <a:bodyPr/>
                    <a:lstStyle/>
                    <a:p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Самовоспроизводство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Мемы → новые мемы. Новые части цитируют стиль старых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Система 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подпитывает сама себя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6370"/>
                  </a:ext>
                </a:extLst>
              </a:tr>
              <a:tr h="749861">
                <a:tc>
                  <a:txBody>
                    <a:bodyPr/>
                    <a:lstStyle/>
                    <a:p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Формирование практик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Фан-сленг, косплей, своя экономика товаров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Симулякр 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конструирует социальную реальность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719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8761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FB37C-2446-D796-E5F6-4B47D44F3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E1FC9D9-9A7D-B0DC-01A9-BBD76AD65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97060EDD-C203-076E-5B11-2A3F37515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A7A91A-1BAC-E0F3-DDF2-96D3F77E2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6871AB-8859-BB69-5FC6-25509C23F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185" y="677925"/>
            <a:ext cx="10102230" cy="1118447"/>
          </a:xfrm>
        </p:spPr>
        <p:txBody>
          <a:bodyPr anchor="ctr">
            <a:normAutofit/>
          </a:bodyPr>
          <a:lstStyle/>
          <a:p>
            <a:r>
              <a:rPr lang="ru-RU" sz="4000" dirty="0"/>
              <a:t>Вывод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030B23-B634-6749-BD7C-CB72449D5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Вывод:</a:t>
            </a:r>
            <a:r>
              <a:rPr lang="ru-RU" sz="2400" dirty="0"/>
              <a:t> </a:t>
            </a:r>
            <a:r>
              <a:rPr lang="ru-RU" sz="2400" i="1" dirty="0" err="1"/>
              <a:t>JoJo's</a:t>
            </a:r>
            <a:r>
              <a:rPr lang="ru-RU" sz="2400" i="1" dirty="0"/>
              <a:t> </a:t>
            </a:r>
            <a:r>
              <a:rPr lang="ru-RU" sz="2400" i="1" dirty="0" err="1"/>
              <a:t>Bizarre</a:t>
            </a:r>
            <a:r>
              <a:rPr lang="ru-RU" sz="2400" i="1" dirty="0"/>
              <a:t> </a:t>
            </a:r>
            <a:r>
              <a:rPr lang="ru-RU" sz="2400" i="1" dirty="0" err="1"/>
              <a:t>Adventure</a:t>
            </a:r>
            <a:r>
              <a:rPr lang="ru-RU" sz="2400" dirty="0"/>
              <a:t> эволюционировала из повествования в </a:t>
            </a:r>
            <a:r>
              <a:rPr lang="ru-RU" sz="2400" b="1" dirty="0"/>
              <a:t>самодостаточную систему знаков</a:t>
            </a:r>
            <a:r>
              <a:rPr lang="ru-RU" sz="2400" dirty="0"/>
              <a:t> (автономный симулякр).</a:t>
            </a:r>
          </a:p>
          <a:p>
            <a:r>
              <a:rPr lang="ru-RU" sz="2400" dirty="0"/>
              <a:t>Эта система создала </a:t>
            </a:r>
            <a:r>
              <a:rPr lang="ru-RU" sz="2400" dirty="0" err="1"/>
              <a:t>гиперреальность</a:t>
            </a:r>
            <a:r>
              <a:rPr lang="ru-RU" sz="2400" dirty="0"/>
              <a:t> со своими правилами, эстетикой, языком и экономикой.</a:t>
            </a:r>
          </a:p>
          <a:p>
            <a:r>
              <a:rPr lang="ru-RU" sz="2400" b="1" dirty="0"/>
              <a:t>Философский итог:</a:t>
            </a:r>
            <a:r>
              <a:rPr lang="ru-RU" sz="2400" dirty="0"/>
              <a:t> Франшиза — наглядная иллюстрация тезиса Бодрийяра: в современной культуре </a:t>
            </a:r>
            <a:r>
              <a:rPr lang="ru-RU" sz="2400" b="1" dirty="0"/>
              <a:t>симуляция часто и становится нашей реальностью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3592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7AB547-2D9D-37BE-6B7F-3779DEB91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F787A2-9F80-EFE6-E15E-5D0128D92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25F808E7-0E24-91E2-85E0-DA6D32897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D12352-6484-C46C-07BA-0F781B403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ADEA4-87E0-A419-EE54-ADC9C446D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185" y="677925"/>
            <a:ext cx="10102230" cy="1118447"/>
          </a:xfrm>
        </p:spPr>
        <p:txBody>
          <a:bodyPr anchor="ctr">
            <a:normAutofit/>
          </a:bodyPr>
          <a:lstStyle/>
          <a:p>
            <a:r>
              <a:rPr lang="ru-RU" sz="4000" dirty="0"/>
              <a:t>Спасибо за внимание!</a:t>
            </a:r>
          </a:p>
        </p:txBody>
      </p:sp>
      <p:pic>
        <p:nvPicPr>
          <p:cNvPr id="6146" name="Picture 2" descr="Jojo GIFs | Tenor">
            <a:extLst>
              <a:ext uri="{FF2B5EF4-FFF2-40B4-BE49-F238E27FC236}">
                <a16:creationId xmlns:a16="http://schemas.microsoft.com/office/drawing/2014/main" id="{A90C614C-8076-6FF2-F839-0DCE51DE7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581" y="1550236"/>
            <a:ext cx="4670288" cy="467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5179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363</Words>
  <Application>Microsoft Office PowerPoint</Application>
  <PresentationFormat>Широкоэкранный</PresentationFormat>
  <Paragraphs>44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quote-cjk-patch</vt:lpstr>
      <vt:lpstr>Aptos</vt:lpstr>
      <vt:lpstr>Aptos Display</vt:lpstr>
      <vt:lpstr>Arial</vt:lpstr>
      <vt:lpstr>Тема Office</vt:lpstr>
      <vt:lpstr>JoJo’s Bizarre Adventure как автономный симулякр в визуальной культуре</vt:lpstr>
      <vt:lpstr>Что такое автономный симулякр?</vt:lpstr>
      <vt:lpstr>От образа к гиперреальности: 4 стадии (по Бодрийяру)</vt:lpstr>
      <vt:lpstr>Объект анализа: JoJo's Bizarre Adventure</vt:lpstr>
      <vt:lpstr>Аргумент 1. Создание гиперреальности «Стиля JoJo»</vt:lpstr>
      <vt:lpstr>Аргумент 2. Самовоспроизводство через мемы и интертекстуальность</vt:lpstr>
      <vt:lpstr>Аргумент 3. Формирование социальных практик и экономики</vt:lpstr>
      <vt:lpstr>Сводная таблица: Три пункта автономности JoJo</vt:lpstr>
      <vt:lpstr>Вывод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Стрельбицкий Илья Павлович</dc:creator>
  <cp:lastModifiedBy>Стрельбицкий Илья Павлович</cp:lastModifiedBy>
  <cp:revision>30</cp:revision>
  <dcterms:created xsi:type="dcterms:W3CDTF">2025-12-22T13:00:20Z</dcterms:created>
  <dcterms:modified xsi:type="dcterms:W3CDTF">2026-01-28T19:56:16Z</dcterms:modified>
</cp:coreProperties>
</file>