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857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469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12/26/2023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06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78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660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85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14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822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29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88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76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65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28" r:id="rId5"/>
    <p:sldLayoutId id="2147483733" r:id="rId6"/>
    <p:sldLayoutId id="2147483729" r:id="rId7"/>
    <p:sldLayoutId id="2147483730" r:id="rId8"/>
    <p:sldLayoutId id="2147483731" r:id="rId9"/>
    <p:sldLayoutId id="2147483732" r:id="rId10"/>
    <p:sldLayoutId id="2147483734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89E41-F32B-F4EE-D6E8-916C34498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0045" y="1346200"/>
            <a:ext cx="5624118" cy="3284538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3400" dirty="0"/>
              <a:t>Неудача Mars </a:t>
            </a:r>
            <a:r>
              <a:rPr lang="ru-RU" sz="3400" dirty="0" err="1"/>
              <a:t>Climate</a:t>
            </a:r>
            <a:r>
              <a:rPr lang="ru-RU" sz="3400" dirty="0"/>
              <a:t> </a:t>
            </a:r>
            <a:r>
              <a:rPr lang="ru-RU" sz="3400" dirty="0" err="1"/>
              <a:t>Orbiter</a:t>
            </a:r>
            <a:r>
              <a:rPr lang="ru-RU" sz="3400" dirty="0"/>
              <a:t> из-за использования разных единиц измерения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47AE88-A61B-BBE5-A71C-D6E014229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369" y="4630738"/>
            <a:ext cx="5617794" cy="1150937"/>
          </a:xfrm>
        </p:spPr>
        <p:txBody>
          <a:bodyPr anchor="t">
            <a:normAutofit/>
          </a:bodyPr>
          <a:lstStyle/>
          <a:p>
            <a:r>
              <a:rPr lang="ru-RU" dirty="0"/>
              <a:t>Выполнил Стрельбицкий Илья </a:t>
            </a:r>
            <a:r>
              <a:rPr lang="en-US" dirty="0"/>
              <a:t>P33101</a:t>
            </a:r>
            <a:endParaRPr lang="ru-RU" dirty="0"/>
          </a:p>
        </p:txBody>
      </p:sp>
      <p:sp>
        <p:nvSpPr>
          <p:cNvPr id="17" name="Freeform: Shape 10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9" name="Picture 3" descr="Изображение выглядит как паутина, Паутина, паук&#10;&#10;Автоматически созданное описание">
            <a:extLst>
              <a:ext uri="{FF2B5EF4-FFF2-40B4-BE49-F238E27FC236}">
                <a16:creationId xmlns:a16="http://schemas.microsoft.com/office/drawing/2014/main" id="{9B6A161D-647A-4531-FF55-7FAA08743B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738" r="4577"/>
          <a:stretch/>
        </p:blipFill>
        <p:spPr>
          <a:xfrm>
            <a:off x="153" y="10"/>
            <a:ext cx="5033023" cy="6857990"/>
          </a:xfrm>
          <a:custGeom>
            <a:avLst/>
            <a:gdLst/>
            <a:ahLst/>
            <a:cxnLst/>
            <a:rect l="l" t="t" r="r" b="b"/>
            <a:pathLst>
              <a:path w="4710787" h="6858000">
                <a:moveTo>
                  <a:pt x="0" y="0"/>
                </a:moveTo>
                <a:lnTo>
                  <a:pt x="1214365" y="0"/>
                </a:lnTo>
                <a:lnTo>
                  <a:pt x="1994531" y="0"/>
                </a:lnTo>
                <a:lnTo>
                  <a:pt x="3087764" y="0"/>
                </a:lnTo>
                <a:lnTo>
                  <a:pt x="3109888" y="14997"/>
                </a:lnTo>
                <a:cubicBezTo>
                  <a:pt x="4137051" y="754641"/>
                  <a:pt x="4710787" y="2093192"/>
                  <a:pt x="4710787" y="3621656"/>
                </a:cubicBezTo>
                <a:cubicBezTo>
                  <a:pt x="4710787" y="4969131"/>
                  <a:pt x="3782062" y="5602839"/>
                  <a:pt x="2836437" y="6374814"/>
                </a:cubicBezTo>
                <a:cubicBezTo>
                  <a:pt x="2664234" y="6515397"/>
                  <a:pt x="2493607" y="6653108"/>
                  <a:pt x="2319789" y="6780599"/>
                </a:cubicBezTo>
                <a:lnTo>
                  <a:pt x="2208033" y="6858000"/>
                </a:lnTo>
                <a:lnTo>
                  <a:pt x="1994531" y="6858000"/>
                </a:lnTo>
                <a:lnTo>
                  <a:pt x="12143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97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65F1A-C917-5B0F-B084-9EFF76EC1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738" y="442913"/>
            <a:ext cx="5197655" cy="1639888"/>
          </a:xfrm>
        </p:spPr>
        <p:txBody>
          <a:bodyPr anchor="b">
            <a:normAutofit/>
          </a:bodyPr>
          <a:lstStyle/>
          <a:p>
            <a:r>
              <a:rPr lang="ru-RU" dirty="0"/>
              <a:t>Задачи полета</a:t>
            </a:r>
          </a:p>
        </p:txBody>
      </p:sp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57E5BCCD-DB23-4AD8-B850-9154AAE91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5566001" cy="6858000"/>
            <a:chOff x="6505773" y="0"/>
            <a:chExt cx="5566001" cy="6858000"/>
          </a:xfrm>
        </p:grpSpPr>
        <p:sp>
          <p:nvSpPr>
            <p:cNvPr id="3082" name="Freeform: Shape 3081">
              <a:extLst>
                <a:ext uri="{FF2B5EF4-FFF2-40B4-BE49-F238E27FC236}">
                  <a16:creationId xmlns:a16="http://schemas.microsoft.com/office/drawing/2014/main" id="{5871FC61-DD4E-47D4-81FD-8A7E7D12B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6865823" y="0"/>
              <a:ext cx="5205951" cy="6858000"/>
            </a:xfrm>
            <a:custGeom>
              <a:avLst/>
              <a:gdLst>
                <a:gd name="connsiteX0" fmla="*/ 0 w 5205951"/>
                <a:gd name="connsiteY0" fmla="*/ 0 h 6858000"/>
                <a:gd name="connsiteX1" fmla="*/ 1709529 w 5205951"/>
                <a:gd name="connsiteY1" fmla="*/ 0 h 6858000"/>
                <a:gd name="connsiteX2" fmla="*/ 2489695 w 5205951"/>
                <a:gd name="connsiteY2" fmla="*/ 0 h 6858000"/>
                <a:gd name="connsiteX3" fmla="*/ 3582928 w 5205951"/>
                <a:gd name="connsiteY3" fmla="*/ 0 h 6858000"/>
                <a:gd name="connsiteX4" fmla="*/ 3605052 w 5205951"/>
                <a:gd name="connsiteY4" fmla="*/ 14997 h 6858000"/>
                <a:gd name="connsiteX5" fmla="*/ 5205951 w 5205951"/>
                <a:gd name="connsiteY5" fmla="*/ 3621656 h 6858000"/>
                <a:gd name="connsiteX6" fmla="*/ 3331601 w 5205951"/>
                <a:gd name="connsiteY6" fmla="*/ 6374814 h 6858000"/>
                <a:gd name="connsiteX7" fmla="*/ 2814953 w 5205951"/>
                <a:gd name="connsiteY7" fmla="*/ 6780599 h 6858000"/>
                <a:gd name="connsiteX8" fmla="*/ 2703197 w 5205951"/>
                <a:gd name="connsiteY8" fmla="*/ 6858000 h 6858000"/>
                <a:gd name="connsiteX9" fmla="*/ 2489695 w 5205951"/>
                <a:gd name="connsiteY9" fmla="*/ 6858000 h 6858000"/>
                <a:gd name="connsiteX10" fmla="*/ 1709529 w 5205951"/>
                <a:gd name="connsiteY10" fmla="*/ 6858000 h 6858000"/>
                <a:gd name="connsiteX11" fmla="*/ 0 w 5205951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05951" h="6858000">
                  <a:moveTo>
                    <a:pt x="0" y="0"/>
                  </a:moveTo>
                  <a:lnTo>
                    <a:pt x="1709529" y="0"/>
                  </a:lnTo>
                  <a:lnTo>
                    <a:pt x="2489695" y="0"/>
                  </a:lnTo>
                  <a:lnTo>
                    <a:pt x="3582928" y="0"/>
                  </a:lnTo>
                  <a:lnTo>
                    <a:pt x="3605052" y="14997"/>
                  </a:lnTo>
                  <a:cubicBezTo>
                    <a:pt x="4632215" y="754641"/>
                    <a:pt x="5205951" y="2093192"/>
                    <a:pt x="5205951" y="3621656"/>
                  </a:cubicBezTo>
                  <a:cubicBezTo>
                    <a:pt x="5205951" y="4969131"/>
                    <a:pt x="4277226" y="5602839"/>
                    <a:pt x="3331601" y="6374814"/>
                  </a:cubicBezTo>
                  <a:cubicBezTo>
                    <a:pt x="3159398" y="6515397"/>
                    <a:pt x="2988771" y="6653108"/>
                    <a:pt x="2814953" y="6780599"/>
                  </a:cubicBezTo>
                  <a:lnTo>
                    <a:pt x="2703197" y="6858000"/>
                  </a:lnTo>
                  <a:lnTo>
                    <a:pt x="2489695" y="6858000"/>
                  </a:lnTo>
                  <a:lnTo>
                    <a:pt x="170952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83" name="Freeform: Shape 3082">
              <a:extLst>
                <a:ext uri="{FF2B5EF4-FFF2-40B4-BE49-F238E27FC236}">
                  <a16:creationId xmlns:a16="http://schemas.microsoft.com/office/drawing/2014/main" id="{829A1E2C-5AC8-40FC-99E9-832069D39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6505773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084" name="Freeform: Shape 3083">
              <a:extLst>
                <a:ext uri="{FF2B5EF4-FFF2-40B4-BE49-F238E27FC236}">
                  <a16:creationId xmlns:a16="http://schemas.microsoft.com/office/drawing/2014/main" id="{55C54A75-E44A-4147-B9D0-FF46CFD31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6719069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pic>
        <p:nvPicPr>
          <p:cNvPr id="3074" name="Picture 2" descr="Wireframe diagram of the rocket and orbiter">
            <a:extLst>
              <a:ext uri="{FF2B5EF4-FFF2-40B4-BE49-F238E27FC236}">
                <a16:creationId xmlns:a16="http://schemas.microsoft.com/office/drawing/2014/main" id="{50B25E14-D197-97BB-4A1F-7C6D9A695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264" y="1568919"/>
            <a:ext cx="4088092" cy="372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81DFDEDD-FD21-AE63-732D-CCBCD3F89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738" y="2312988"/>
            <a:ext cx="5197655" cy="3651250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Программа</a:t>
            </a:r>
            <a:r>
              <a:rPr lang="en-US" sz="2000" dirty="0"/>
              <a:t> Mars Surveyor 98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Спутник-транслятор для посадочного аппарата </a:t>
            </a:r>
            <a:r>
              <a:rPr lang="en-US" sz="2000" dirty="0"/>
              <a:t>Mars Polar Lander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Изучение динамики атмосферы Марса и съемка его поверхности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Изучение погоды в течении 687 земных суток</a:t>
            </a:r>
          </a:p>
        </p:txBody>
      </p:sp>
    </p:spTree>
    <p:extLst>
      <p:ext uri="{BB962C8B-B14F-4D97-AF65-F5344CB8AC3E}">
        <p14:creationId xmlns:p14="http://schemas.microsoft.com/office/powerpoint/2010/main" val="417778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3" name="Rectangle 2054">
            <a:extLst>
              <a:ext uri="{FF2B5EF4-FFF2-40B4-BE49-F238E27FC236}">
                <a16:creationId xmlns:a16="http://schemas.microsoft.com/office/drawing/2014/main" id="{3D5FBB81-B61B-416A-8F5D-A8DDF6253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4" name="Freeform: Shape 2056">
            <a:extLst>
              <a:ext uri="{FF2B5EF4-FFF2-40B4-BE49-F238E27FC236}">
                <a16:creationId xmlns:a16="http://schemas.microsoft.com/office/drawing/2014/main" id="{40C0D7D4-D83D-4C58-87D1-955F0A91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6051" cy="6858000"/>
          </a:xfrm>
          <a:custGeom>
            <a:avLst/>
            <a:gdLst>
              <a:gd name="connsiteX0" fmla="*/ 0 w 7476051"/>
              <a:gd name="connsiteY0" fmla="*/ 0 h 6858000"/>
              <a:gd name="connsiteX1" fmla="*/ 5853028 w 7476051"/>
              <a:gd name="connsiteY1" fmla="*/ 0 h 6858000"/>
              <a:gd name="connsiteX2" fmla="*/ 5875152 w 7476051"/>
              <a:gd name="connsiteY2" fmla="*/ 14997 h 6858000"/>
              <a:gd name="connsiteX3" fmla="*/ 7476051 w 7476051"/>
              <a:gd name="connsiteY3" fmla="*/ 3621656 h 6858000"/>
              <a:gd name="connsiteX4" fmla="*/ 5601702 w 7476051"/>
              <a:gd name="connsiteY4" fmla="*/ 6374814 h 6858000"/>
              <a:gd name="connsiteX5" fmla="*/ 5085053 w 7476051"/>
              <a:gd name="connsiteY5" fmla="*/ 6780599 h 6858000"/>
              <a:gd name="connsiteX6" fmla="*/ 4973297 w 7476051"/>
              <a:gd name="connsiteY6" fmla="*/ 6858000 h 6858000"/>
              <a:gd name="connsiteX7" fmla="*/ 0 w 7476051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6051" h="6858000">
                <a:moveTo>
                  <a:pt x="0" y="0"/>
                </a:moveTo>
                <a:lnTo>
                  <a:pt x="5853028" y="0"/>
                </a:lnTo>
                <a:lnTo>
                  <a:pt x="5875152" y="14997"/>
                </a:lnTo>
                <a:cubicBezTo>
                  <a:pt x="6902315" y="754641"/>
                  <a:pt x="7476051" y="2093192"/>
                  <a:pt x="7476051" y="3621656"/>
                </a:cubicBezTo>
                <a:cubicBezTo>
                  <a:pt x="7476051" y="4969131"/>
                  <a:pt x="6547326" y="5602839"/>
                  <a:pt x="5601702" y="6374814"/>
                </a:cubicBezTo>
                <a:cubicBezTo>
                  <a:pt x="5429499" y="6515397"/>
                  <a:pt x="5258871" y="6653108"/>
                  <a:pt x="5085053" y="6780599"/>
                </a:cubicBezTo>
                <a:lnTo>
                  <a:pt x="49732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5" name="Freeform: Shape 2058">
            <a:extLst>
              <a:ext uri="{FF2B5EF4-FFF2-40B4-BE49-F238E27FC236}">
                <a16:creationId xmlns:a16="http://schemas.microsoft.com/office/drawing/2014/main" id="{15F9A324-404E-4C5D-AFF0-C5D0D841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8204" y="-1"/>
            <a:ext cx="2535264" cy="6858001"/>
          </a:xfrm>
          <a:custGeom>
            <a:avLst/>
            <a:gdLst>
              <a:gd name="connsiteX0" fmla="*/ 1218585 w 2535264"/>
              <a:gd name="connsiteY0" fmla="*/ 0 h 6858001"/>
              <a:gd name="connsiteX1" fmla="*/ 1236561 w 2535264"/>
              <a:gd name="connsiteY1" fmla="*/ 0 h 6858001"/>
              <a:gd name="connsiteX2" fmla="*/ 1264452 w 2535264"/>
              <a:gd name="connsiteY2" fmla="*/ 24550 h 6858001"/>
              <a:gd name="connsiteX3" fmla="*/ 2528121 w 2535264"/>
              <a:gd name="connsiteY3" fmla="*/ 3710502 h 6858001"/>
              <a:gd name="connsiteX4" fmla="*/ 492890 w 2535264"/>
              <a:gd name="connsiteY4" fmla="*/ 6507511 h 6858001"/>
              <a:gd name="connsiteX5" fmla="*/ 221418 w 2535264"/>
              <a:gd name="connsiteY5" fmla="*/ 6713387 h 6858001"/>
              <a:gd name="connsiteX6" fmla="*/ 20100 w 2535264"/>
              <a:gd name="connsiteY6" fmla="*/ 6858001 h 6858001"/>
              <a:gd name="connsiteX7" fmla="*/ 0 w 2535264"/>
              <a:gd name="connsiteY7" fmla="*/ 6858001 h 6858001"/>
              <a:gd name="connsiteX8" fmla="*/ 202488 w 2535264"/>
              <a:gd name="connsiteY8" fmla="*/ 6712547 h 6858001"/>
              <a:gd name="connsiteX9" fmla="*/ 473961 w 2535264"/>
              <a:gd name="connsiteY9" fmla="*/ 6506670 h 6858001"/>
              <a:gd name="connsiteX10" fmla="*/ 2509192 w 2535264"/>
              <a:gd name="connsiteY10" fmla="*/ 3709662 h 6858001"/>
              <a:gd name="connsiteX11" fmla="*/ 1245521 w 2535264"/>
              <a:gd name="connsiteY11" fmla="*/ 237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5264" h="6858001">
                <a:moveTo>
                  <a:pt x="1218585" y="0"/>
                </a:moveTo>
                <a:lnTo>
                  <a:pt x="1236561" y="0"/>
                </a:lnTo>
                <a:lnTo>
                  <a:pt x="1264452" y="24550"/>
                </a:lnTo>
                <a:cubicBezTo>
                  <a:pt x="2149109" y="863108"/>
                  <a:pt x="2598329" y="2210814"/>
                  <a:pt x="2528121" y="3710502"/>
                </a:cubicBezTo>
                <a:cubicBezTo>
                  <a:pt x="2462100" y="5120751"/>
                  <a:pt x="1489450" y="5742158"/>
                  <a:pt x="492890" y="6507511"/>
                </a:cubicBezTo>
                <a:cubicBezTo>
                  <a:pt x="402151" y="6577199"/>
                  <a:pt x="311847" y="6646154"/>
                  <a:pt x="221418" y="6713387"/>
                </a:cubicBezTo>
                <a:lnTo>
                  <a:pt x="20100" y="6858001"/>
                </a:lnTo>
                <a:lnTo>
                  <a:pt x="0" y="6858001"/>
                </a:lnTo>
                <a:lnTo>
                  <a:pt x="202488" y="6712547"/>
                </a:lnTo>
                <a:cubicBezTo>
                  <a:pt x="292917" y="6645314"/>
                  <a:pt x="383222" y="6576359"/>
                  <a:pt x="473961" y="6506670"/>
                </a:cubicBezTo>
                <a:cubicBezTo>
                  <a:pt x="1470520" y="5741317"/>
                  <a:pt x="2443170" y="5119911"/>
                  <a:pt x="2509192" y="3709662"/>
                </a:cubicBezTo>
                <a:cubicBezTo>
                  <a:pt x="2579400" y="2209973"/>
                  <a:pt x="2130178" y="862268"/>
                  <a:pt x="1245521" y="237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6" name="Freeform: Shape 2060">
            <a:extLst>
              <a:ext uri="{FF2B5EF4-FFF2-40B4-BE49-F238E27FC236}">
                <a16:creationId xmlns:a16="http://schemas.microsoft.com/office/drawing/2014/main" id="{AC4CE3C4-3600-4353-9FE1-B32D06BEF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37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20EDD2-39A3-C4B0-74D1-896A7CAA3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185645" cy="1639888"/>
          </a:xfrm>
        </p:spPr>
        <p:txBody>
          <a:bodyPr anchor="b">
            <a:normAutofit/>
          </a:bodyPr>
          <a:lstStyle/>
          <a:p>
            <a:r>
              <a:rPr lang="ru-RU" dirty="0"/>
              <a:t>Хронология полета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C29E18-34FB-6D9F-E6BB-70DAE53F6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96964" cy="36512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11 </a:t>
            </a:r>
            <a:r>
              <a:rPr lang="ru-RU" sz="2000" dirty="0"/>
              <a:t>декабря 1998 года – запуск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Через 9 месяцев прибыл к Марсу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23 сентября 1999 года – должен был выйти на высокоэллиптическую орбиту, но произошла авария</a:t>
            </a:r>
          </a:p>
        </p:txBody>
      </p:sp>
      <p:pic>
        <p:nvPicPr>
          <p:cNvPr id="2050" name="Picture 2" descr="Diagram of aerobraking approach with periods of 2, 5, 9, and 15 hours">
            <a:extLst>
              <a:ext uri="{FF2B5EF4-FFF2-40B4-BE49-F238E27FC236}">
                <a16:creationId xmlns:a16="http://schemas.microsoft.com/office/drawing/2014/main" id="{20789743-5927-2370-A12C-861F1758C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29451" y="1520792"/>
            <a:ext cx="3816414" cy="381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192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Comparative diagram of the two trajectories">
            <a:extLst>
              <a:ext uri="{FF2B5EF4-FFF2-40B4-BE49-F238E27FC236}">
                <a16:creationId xmlns:a16="http://schemas.microsoft.com/office/drawing/2014/main" id="{877153A7-DC8F-8873-6892-22AFCA57E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27BD9-6AD4-11A4-669B-F642F724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279134"/>
            <a:ext cx="8770571" cy="85664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Причины произошедшего</a:t>
            </a:r>
          </a:p>
        </p:txBody>
      </p:sp>
    </p:spTree>
    <p:extLst>
      <p:ext uri="{BB962C8B-B14F-4D97-AF65-F5344CB8AC3E}">
        <p14:creationId xmlns:p14="http://schemas.microsoft.com/office/powerpoint/2010/main" val="1810987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11C6C-4DAC-EFA7-3281-07ADCF39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ru-RU" dirty="0"/>
              <a:t>-образная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853878-700D-A15C-4B4E-AFC2975FA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5"/>
            <a:ext cx="8770571" cy="422674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Немецкая V-модель была разработана аэрокосмической компанией IABG в </a:t>
            </a:r>
            <a:r>
              <a:rPr lang="ru-RU" dirty="0" err="1"/>
              <a:t>Оттобрунне</a:t>
            </a:r>
            <a:r>
              <a:rPr lang="ru-RU" dirty="0"/>
              <a:t> рядом с Мюнхеном в содействии с Федеральным департаментом по закупке вооружений в Кобленце, для Министерства обороны Германии. Модель была принята немецкой федеральной администрацией для гражданских нужд летом 1992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Американская V-Model (VEE) была разработана национальным советом по системной инженерии (международным — с 1995 года) для спутниковых систем, включая оборудование, программное обеспечение и взаимодействие с пользователями</a:t>
            </a:r>
          </a:p>
        </p:txBody>
      </p:sp>
    </p:spTree>
    <p:extLst>
      <p:ext uri="{BB962C8B-B14F-4D97-AF65-F5344CB8AC3E}">
        <p14:creationId xmlns:p14="http://schemas.microsoft.com/office/powerpoint/2010/main" val="4284808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3388C8E-D474-2165-CC7A-C698AE593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322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94272-DE00-06F7-E2FF-B4314A7B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831B95-2400-7395-8B42-B7E759018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Минимизация рисков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Повышение и гарантии качества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Уменьшение общей стоимости проекта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Повышение качества коммуникации между участниками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306471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F3260-C6CC-9325-B1D9-9127E19F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D55943-374E-63E0-A9F1-7CABA24E9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8770571" cy="410350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В модели особое значение придается планированию, направленному на верификацию и аттестацию разрабатываемого продукта на ранних стадиях его разработки.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В модели предусмотрены аттестация и верификация всех внешних и внутренних полученных данных, а не только самого программного продукта.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В V-образной модели определение требований выполняется перед разработкой проекта системы, а проектирование ПО — перед разработкой компонентов.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Модель определяет продукты, которые должны быть получены в результате процесса разработки, причём каждые полученные данные должны подвергаться тестированию.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Благодаря модели менеджеры проекта могут отслеживать ход процесса разработки, так как в данном случае вполне возможно воспользоваться временной шкалой, а завершение каждой фазы является контрольной точкой.</a:t>
            </a:r>
          </a:p>
        </p:txBody>
      </p:sp>
    </p:spTree>
    <p:extLst>
      <p:ext uri="{BB962C8B-B14F-4D97-AF65-F5344CB8AC3E}">
        <p14:creationId xmlns:p14="http://schemas.microsoft.com/office/powerpoint/2010/main" val="216911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AF4FD-8B6A-16EA-69EE-9C66C3D2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978D0C-B6BB-8573-A97F-67D3D143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5"/>
            <a:ext cx="8770571" cy="4343706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Модель не предусматривает работу с параллельными событиями.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модели не предусмотрено внесение требования динамических изменений на разных этапах жизненного цикла.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Тестирование требований в жизненном цикле происходит слишком поздно, вследствие чего невозможно внести изменения, не повлияв при этом на график выполнения проекта.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модель не входят действия, направленные на анализ рисков.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Некоторые результаты можно посмотреть только при достижении низа буквы V.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8206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83CB8A-D538-409E-A0AF-2C1F5967C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1041" y="0"/>
            <a:ext cx="7894508" cy="6858000"/>
            <a:chOff x="-11041" y="0"/>
            <a:chExt cx="7894508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4FEE910-B0A4-448D-9843-9F167F5C7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1041" y="0"/>
              <a:ext cx="7476051" cy="6858000"/>
            </a:xfrm>
            <a:custGeom>
              <a:avLst/>
              <a:gdLst>
                <a:gd name="connsiteX0" fmla="*/ 0 w 7476051"/>
                <a:gd name="connsiteY0" fmla="*/ 0 h 6858000"/>
                <a:gd name="connsiteX1" fmla="*/ 348024 w 7476051"/>
                <a:gd name="connsiteY1" fmla="*/ 0 h 6858000"/>
                <a:gd name="connsiteX2" fmla="*/ 681975 w 7476051"/>
                <a:gd name="connsiteY2" fmla="*/ 0 h 6858000"/>
                <a:gd name="connsiteX3" fmla="*/ 1555845 w 7476051"/>
                <a:gd name="connsiteY3" fmla="*/ 0 h 6858000"/>
                <a:gd name="connsiteX4" fmla="*/ 1568054 w 7476051"/>
                <a:gd name="connsiteY4" fmla="*/ 0 h 6858000"/>
                <a:gd name="connsiteX5" fmla="*/ 1693495 w 7476051"/>
                <a:gd name="connsiteY5" fmla="*/ 0 h 6858000"/>
                <a:gd name="connsiteX6" fmla="*/ 3186636 w 7476051"/>
                <a:gd name="connsiteY6" fmla="*/ 0 h 6858000"/>
                <a:gd name="connsiteX7" fmla="*/ 5853028 w 7476051"/>
                <a:gd name="connsiteY7" fmla="*/ 0 h 6858000"/>
                <a:gd name="connsiteX8" fmla="*/ 5875152 w 7476051"/>
                <a:gd name="connsiteY8" fmla="*/ 14997 h 6858000"/>
                <a:gd name="connsiteX9" fmla="*/ 7476051 w 7476051"/>
                <a:gd name="connsiteY9" fmla="*/ 3621656 h 6858000"/>
                <a:gd name="connsiteX10" fmla="*/ 5601701 w 7476051"/>
                <a:gd name="connsiteY10" fmla="*/ 6374814 h 6858000"/>
                <a:gd name="connsiteX11" fmla="*/ 5085053 w 7476051"/>
                <a:gd name="connsiteY11" fmla="*/ 6780599 h 6858000"/>
                <a:gd name="connsiteX12" fmla="*/ 4973297 w 7476051"/>
                <a:gd name="connsiteY12" fmla="*/ 6858000 h 6858000"/>
                <a:gd name="connsiteX13" fmla="*/ 3186636 w 7476051"/>
                <a:gd name="connsiteY13" fmla="*/ 6858000 h 6858000"/>
                <a:gd name="connsiteX14" fmla="*/ 1568054 w 7476051"/>
                <a:gd name="connsiteY14" fmla="*/ 6858000 h 6858000"/>
                <a:gd name="connsiteX15" fmla="*/ 1555845 w 7476051"/>
                <a:gd name="connsiteY15" fmla="*/ 6858000 h 6858000"/>
                <a:gd name="connsiteX16" fmla="*/ 1385101 w 7476051"/>
                <a:gd name="connsiteY16" fmla="*/ 6858000 h 6858000"/>
                <a:gd name="connsiteX17" fmla="*/ 681975 w 7476051"/>
                <a:gd name="connsiteY17" fmla="*/ 6858000 h 6858000"/>
                <a:gd name="connsiteX18" fmla="*/ 348024 w 7476051"/>
                <a:gd name="connsiteY18" fmla="*/ 6858000 h 6858000"/>
                <a:gd name="connsiteX19" fmla="*/ 0 w 7476051"/>
                <a:gd name="connsiteY1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76051" h="6858000">
                  <a:moveTo>
                    <a:pt x="0" y="0"/>
                  </a:moveTo>
                  <a:lnTo>
                    <a:pt x="348024" y="0"/>
                  </a:lnTo>
                  <a:lnTo>
                    <a:pt x="681975" y="0"/>
                  </a:lnTo>
                  <a:lnTo>
                    <a:pt x="1555845" y="0"/>
                  </a:lnTo>
                  <a:lnTo>
                    <a:pt x="1568054" y="0"/>
                  </a:lnTo>
                  <a:lnTo>
                    <a:pt x="1693495" y="0"/>
                  </a:lnTo>
                  <a:lnTo>
                    <a:pt x="3186636" y="0"/>
                  </a:lnTo>
                  <a:lnTo>
                    <a:pt x="5853028" y="0"/>
                  </a:lnTo>
                  <a:lnTo>
                    <a:pt x="5875152" y="14997"/>
                  </a:lnTo>
                  <a:cubicBezTo>
                    <a:pt x="6902315" y="754641"/>
                    <a:pt x="7476051" y="2093192"/>
                    <a:pt x="7476051" y="3621656"/>
                  </a:cubicBezTo>
                  <a:cubicBezTo>
                    <a:pt x="7476051" y="4969131"/>
                    <a:pt x="6547326" y="5602839"/>
                    <a:pt x="5601701" y="6374814"/>
                  </a:cubicBezTo>
                  <a:cubicBezTo>
                    <a:pt x="5429498" y="6515397"/>
                    <a:pt x="5258871" y="6653108"/>
                    <a:pt x="5085053" y="6780599"/>
                  </a:cubicBezTo>
                  <a:lnTo>
                    <a:pt x="4973297" y="6858000"/>
                  </a:lnTo>
                  <a:lnTo>
                    <a:pt x="3186636" y="6858000"/>
                  </a:lnTo>
                  <a:lnTo>
                    <a:pt x="1568054" y="6858000"/>
                  </a:lnTo>
                  <a:lnTo>
                    <a:pt x="1555845" y="6858000"/>
                  </a:lnTo>
                  <a:lnTo>
                    <a:pt x="1385101" y="6858000"/>
                  </a:lnTo>
                  <a:lnTo>
                    <a:pt x="681975" y="6858000"/>
                  </a:lnTo>
                  <a:lnTo>
                    <a:pt x="34802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BA7E51E-7B6A-4A79-8F84-47C845C7A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3C85561-90D2-4AFA-B2C5-F2D61D86C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026B71D-5A6F-48FE-AC6A-D7AAA0180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249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93BF7-DDF1-325F-45A2-8CBE99F0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531" y="1346268"/>
            <a:ext cx="5274860" cy="411966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07321564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DarkSeedRightStep">
      <a:dk1>
        <a:srgbClr val="000000"/>
      </a:dk1>
      <a:lt1>
        <a:srgbClr val="FFFFFF"/>
      </a:lt1>
      <a:dk2>
        <a:srgbClr val="1B3021"/>
      </a:dk2>
      <a:lt2>
        <a:srgbClr val="F3F0F2"/>
      </a:lt2>
      <a:accent1>
        <a:srgbClr val="47B665"/>
      </a:accent1>
      <a:accent2>
        <a:srgbClr val="3BB18C"/>
      </a:accent2>
      <a:accent3>
        <a:srgbClr val="4AB0BC"/>
      </a:accent3>
      <a:accent4>
        <a:srgbClr val="3B74B1"/>
      </a:accent4>
      <a:accent5>
        <a:srgbClr val="4D54C3"/>
      </a:accent5>
      <a:accent6>
        <a:srgbClr val="6B43B5"/>
      </a:accent6>
      <a:hlink>
        <a:srgbClr val="A08735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346</Words>
  <Application>Microsoft Office PowerPoint</Application>
  <PresentationFormat>Широкоэкранный</PresentationFormat>
  <Paragraphs>33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Meiryo</vt:lpstr>
      <vt:lpstr>Arial</vt:lpstr>
      <vt:lpstr>Corbel</vt:lpstr>
      <vt:lpstr>SketchLinesVTI</vt:lpstr>
      <vt:lpstr>Неудача Mars Climate Orbiter из-за использования разных единиц измерения</vt:lpstr>
      <vt:lpstr>Задачи полета</vt:lpstr>
      <vt:lpstr>Хронология полета</vt:lpstr>
      <vt:lpstr>Причины произошедшего</vt:lpstr>
      <vt:lpstr>V-образная модель</vt:lpstr>
      <vt:lpstr>Презентация PowerPoint</vt:lpstr>
      <vt:lpstr>Цели</vt:lpstr>
      <vt:lpstr>Преимущества</vt:lpstr>
      <vt:lpstr>Недостатки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Неудача Mars Climate Orbiter из-за использования разных единиц измерения</dc:title>
  <dc:creator>Стрельбицкий Илья Павлович</dc:creator>
  <cp:lastModifiedBy>Стрельбицкий Илья Павлович</cp:lastModifiedBy>
  <cp:revision>29</cp:revision>
  <dcterms:created xsi:type="dcterms:W3CDTF">2023-12-25T14:58:52Z</dcterms:created>
  <dcterms:modified xsi:type="dcterms:W3CDTF">2023-12-26T08:40:02Z</dcterms:modified>
</cp:coreProperties>
</file>